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5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media/image1.png" ContentType="image/png"/>
  <Override PartName="/ppt/media/image5.png" ContentType="image/png"/>
  <Override PartName="/ppt/media/image6.png" ContentType="image/png"/>
  <Override PartName="/ppt/media/image14.png" ContentType="image/png"/>
  <Override PartName="/ppt/media/image13.png" ContentType="image/png"/>
  <Override PartName="/ppt/media/image15.png" ContentType="image/png"/>
  <Override PartName="/ppt/media/image11.png" ContentType="image/png"/>
  <Override PartName="/ppt/media/image3.png" ContentType="image/png"/>
  <Override PartName="/ppt/media/image10.png" ContentType="image/png"/>
  <Override PartName="/ppt/media/image18.png" ContentType="image/png"/>
  <Override PartName="/ppt/media/image7.png" ContentType="image/png"/>
  <Override PartName="/ppt/media/image20.png" ContentType="image/png"/>
  <Override PartName="/ppt/media/image21.png" ContentType="image/png"/>
  <Override PartName="/ppt/media/image16.png" ContentType="image/png"/>
  <Override PartName="/ppt/media/image22.png" ContentType="image/png"/>
  <Override PartName="/ppt/media/image12.png" ContentType="image/png"/>
  <Override PartName="/ppt/media/image23.png" ContentType="image/png"/>
  <Override PartName="/ppt/media/image17.png" ContentType="image/png"/>
  <Override PartName="/ppt/media/image27.png" ContentType="image/png"/>
  <Override PartName="/ppt/media/image8.png" ContentType="image/png"/>
  <Override PartName="/ppt/media/image24.png" ContentType="image/png"/>
  <Override PartName="/ppt/media/image9.png" ContentType="image/png"/>
  <Override PartName="/ppt/media/image19.png" ContentType="image/png"/>
  <Override PartName="/ppt/media/image26.png" ContentType="image/png"/>
  <Override PartName="/ppt/media/image4.png" ContentType="image/png"/>
  <Override PartName="/ppt/media/image25.png" ContentType="image/png"/>
  <Override PartName="/ppt/media/image2.png" ContentType="image/png"/>
  <Override PartName="/ppt/media/image28.png" ContentType="image/pn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charts/chart1.xml" ContentType="application/vnd.openxmlformats-officedocument.drawingml.chart+xml"/>
  <Override PartName="/ppt/notesSlides/_rels/notesSlide1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sz="1300" strike="noStrike" u="none">
                <a:solidFill>
                  <a:srgbClr val="2b3f6b"/>
                </a:solidFill>
                <a:uFillTx/>
                <a:latin typeface="Calibri"/>
              </a:rPr>
              <a:t>Testa gadījumi pa funkcionalitātes jomām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Testa gadījumi</c:v>
                </c:pt>
              </c:strCache>
            </c:strRef>
          </c:tx>
          <c:spPr>
            <a:solidFill>
              <a:srgbClr val="405d9b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100" strike="noStrike" u="none">
                    <a:solidFill>
                      <a:srgbClr val="1f2433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Reģistrācija</c:v>
                </c:pt>
                <c:pt idx="1">
                  <c:v>Pieslēgšanās</c:v>
                </c:pt>
                <c:pt idx="2">
                  <c:v>Ieraksti un “patīk”</c:v>
                </c:pt>
                <c:pt idx="3">
                  <c:v>Draudzība, privātums</c:v>
                </c:pt>
                <c:pt idx="4">
                  <c:v>Meklēšana</c:v>
                </c:pt>
                <c:pt idx="5">
                  <c:v>Grupas</c:v>
                </c:pt>
                <c:pt idx="6">
                  <c:v>Administrēšana</c:v>
                </c:pt>
                <c:pt idx="7">
                  <c:v>Drošība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7</c:v>
                </c:pt>
                <c:pt idx="1">
                  <c:v>7</c:v>
                </c:pt>
                <c:pt idx="2">
                  <c:v>9</c:v>
                </c:pt>
                <c:pt idx="3">
                  <c:v>7</c:v>
                </c:pt>
                <c:pt idx="4">
                  <c:v>5</c:v>
                </c:pt>
                <c:pt idx="5">
                  <c:v>6</c:v>
                </c:pt>
                <c:pt idx="6">
                  <c:v>6</c:v>
                </c:pt>
                <c:pt idx="7">
                  <c:v>5</c:v>
                </c:pt>
              </c:numCache>
            </c:numRef>
          </c:val>
        </c:ser>
        <c:gapWidth val="60"/>
        <c:overlap val="0"/>
        <c:axId val="66581125"/>
        <c:axId val="11429752"/>
      </c:barChart>
      <c:catAx>
        <c:axId val="66581125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100" strike="noStrike" u="none">
                <a:solidFill>
                  <a:srgbClr val="1f2433"/>
                </a:solidFill>
                <a:uFillTx/>
                <a:latin typeface="Calibri"/>
              </a:defRPr>
            </a:pPr>
          </a:p>
        </c:txPr>
        <c:crossAx val="11429752"/>
        <c:crosses val="autoZero"/>
        <c:auto val="1"/>
        <c:lblAlgn val="ctr"/>
        <c:lblOffset val="100"/>
        <c:noMultiLvlLbl val="0"/>
      </c:catAx>
      <c:valAx>
        <c:axId val="1142975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6581125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move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 to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563BE34-BA81-4F0E-9BE5-8A9EB3DE462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091BA5-5E83-415E-B173-5C214E5C9C4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1CE6A0-0168-4B0B-BB56-2E95BCF9F48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11B642-2FD7-4D50-A512-2378F86E1DA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EC43AC-6C04-47A8-92D2-2CE7A478838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DB5939-1D7B-48DC-B83A-352D34F7AA8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67EB74-34A9-4744-B199-7E60C4A0316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841741-3C9D-4A72-88F6-1EF64A3655F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ED6A0E-6AAF-4C82-8873-40DFCF21582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DA6323-E95A-43A0-B039-C69CB35CF9B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4BD802-06D5-41B1-AE6E-942A4DBDD49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EDB768-A47D-4B7B-AF46-50B297BAC8E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B508C1-32A2-4C49-8322-D0D4634DD5E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1463040"/>
            <a:ext cx="82288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2468880"/>
            <a:ext cx="8228880" cy="54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56B8F9-06AD-4027-8C75-EA60F4D550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ullapa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4754160" cy="155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text </a:t>
            </a: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2926080"/>
            <a:ext cx="4754160" cy="82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atur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8880" cy="59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text </a:t>
            </a: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0"/>
          <p:cNvSpPr/>
          <p:nvPr/>
        </p:nvSpPr>
        <p:spPr>
          <a:xfrm>
            <a:off x="457200" y="47548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Sociālā tīkla tīmekļa lietotne Osmos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4"/>
          </p:nvPr>
        </p:nvSpPr>
        <p:spPr>
          <a:xfrm>
            <a:off x="822960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728DCC-BEC1-41F9-81A8-1B9726B9C24B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1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Noslēgums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1463040"/>
            <a:ext cx="8228880" cy="91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2468880"/>
            <a:ext cx="8228880" cy="54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oslēgums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1463040"/>
            <a:ext cx="8228880" cy="91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the </a:t>
            </a: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2468880"/>
            <a:ext cx="8228880" cy="54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1782360"/>
            <a:ext cx="8228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E4ACEF-ED25-41D7-905E-A65DE0438A8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3.png"/><Relationship Id="rId3" Type="http://schemas.openxmlformats.org/officeDocument/2006/relationships/image" Target="../media/image23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rba veids"/>
          <p:cNvSpPr/>
          <p:nvPr/>
        </p:nvSpPr>
        <p:spPr>
          <a:xfrm>
            <a:off x="457200" y="685800"/>
            <a:ext cx="4754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Kvalifikācijas eksāmena praktiskā daļa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4754160" cy="155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Sociālā </a:t>
            </a: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tīkla </a:t>
            </a: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tīmekļa </a:t>
            </a: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lietotne </a:t>
            </a: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Osmos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2926080"/>
            <a:ext cx="4754160" cy="82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Gustavs Siliņš, 9. grupa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kola 2"/>
          <p:cNvSpPr/>
          <p:nvPr/>
        </p:nvSpPr>
        <p:spPr>
          <a:xfrm>
            <a:off x="457200" y="4343400"/>
            <a:ext cx="4754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</a:rPr>
              <a:t>Rīgas Metālapstrādes profesionālā vidusskola, 2026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Ziņu lentas ekrānattēls rāmis 2"/>
          <p:cNvSpPr/>
          <p:nvPr/>
        </p:nvSpPr>
        <p:spPr>
          <a:xfrm>
            <a:off x="5440680" y="1097280"/>
            <a:ext cx="3291120" cy="2537280"/>
          </a:xfrm>
          <a:prstGeom prst="rect">
            <a:avLst/>
          </a:prstGeom>
          <a:solidFill>
            <a:schemeClr val="bg1"/>
          </a:solidFill>
          <a:ln w="9525">
            <a:solidFill>
              <a:srgbClr val="d5d9e2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Ziņu lentas ekrānattēls 2" descr="/home/claude/doc/img/03_home.png"/>
          <p:cNvPicPr/>
          <p:nvPr/>
        </p:nvPicPr>
        <p:blipFill>
          <a:blip r:embed="rId1"/>
          <a:stretch/>
        </p:blipFill>
        <p:spPr>
          <a:xfrm>
            <a:off x="5486400" y="1143000"/>
            <a:ext cx="3199680" cy="244584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8880" cy="59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Kāpēc 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klasei 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savs 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sociālais 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tīkls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roblēma 1 aplis 2"/>
          <p:cNvSpPr/>
          <p:nvPr/>
        </p:nvSpPr>
        <p:spPr>
          <a:xfrm>
            <a:off x="457200" y="1143000"/>
            <a:ext cx="639360" cy="63936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Problēma 1 ikona 2" descr="preencoded.png"/>
          <p:cNvPicPr/>
          <p:nvPr/>
        </p:nvPicPr>
        <p:blipFill>
          <a:blip r:embed="rId1"/>
          <a:stretch/>
        </p:blipFill>
        <p:spPr>
          <a:xfrm>
            <a:off x="617400" y="130320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roblēma 1 virsraksts 2"/>
          <p:cNvSpPr/>
          <p:nvPr/>
        </p:nvSpPr>
        <p:spPr>
          <a:xfrm>
            <a:off x="1280160" y="112464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Saziņa izkaisīta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roblēma 1 apraksts 2"/>
          <p:cNvSpPr/>
          <p:nvPr/>
        </p:nvSpPr>
        <p:spPr>
          <a:xfrm>
            <a:off x="1280160" y="1472040"/>
            <a:ext cx="3565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Klases saziņa notiek vairākās lietotnēs vienlaikus.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roblēma 2 aplis 2"/>
          <p:cNvSpPr/>
          <p:nvPr/>
        </p:nvSpPr>
        <p:spPr>
          <a:xfrm>
            <a:off x="457200" y="2240280"/>
            <a:ext cx="639360" cy="63936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Problēma 2 ikona 2" descr="preencoded.png"/>
          <p:cNvPicPr/>
          <p:nvPr/>
        </p:nvPicPr>
        <p:blipFill>
          <a:blip r:embed="rId2"/>
          <a:stretch/>
        </p:blipFill>
        <p:spPr>
          <a:xfrm>
            <a:off x="617400" y="24004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roblēma 2 virsraksts 2"/>
          <p:cNvSpPr/>
          <p:nvPr/>
        </p:nvSpPr>
        <p:spPr>
          <a:xfrm>
            <a:off x="1280160" y="222192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Reklāmas un svešs saturs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roblēma 2 apraksts 2"/>
          <p:cNvSpPr/>
          <p:nvPr/>
        </p:nvSpPr>
        <p:spPr>
          <a:xfrm>
            <a:off x="1280160" y="2569320"/>
            <a:ext cx="3565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Lielās platformas mācību saziņu sajauc ar reklāmām.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roblēma 3 aplis 2"/>
          <p:cNvSpPr/>
          <p:nvPr/>
        </p:nvSpPr>
        <p:spPr>
          <a:xfrm>
            <a:off x="457200" y="3337560"/>
            <a:ext cx="639360" cy="63936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Problēma 3 ikona 2" descr="preencoded.png"/>
          <p:cNvPicPr/>
          <p:nvPr/>
        </p:nvPicPr>
        <p:blipFill>
          <a:blip r:embed="rId3"/>
          <a:stretch/>
        </p:blipFill>
        <p:spPr>
          <a:xfrm>
            <a:off x="617400" y="349776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roblēma 3 virsraksts 2"/>
          <p:cNvSpPr/>
          <p:nvPr/>
        </p:nvSpPr>
        <p:spPr>
          <a:xfrm>
            <a:off x="1280160" y="331920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Dati citu serveros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roblēma 3 apraksts 2"/>
          <p:cNvSpPr/>
          <p:nvPr/>
        </p:nvSpPr>
        <p:spPr>
          <a:xfrm>
            <a:off x="1280160" y="3666600"/>
            <a:ext cx="35654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Klase nevar noteikt, kādi dati tiek uzkrāti un kas tos redz.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Risinājuma kartīte 2"/>
          <p:cNvSpPr/>
          <p:nvPr/>
        </p:nvSpPr>
        <p:spPr>
          <a:xfrm>
            <a:off x="5212080" y="1097280"/>
            <a:ext cx="3474000" cy="3291120"/>
          </a:xfrm>
          <a:prstGeom prst="roundRect">
            <a:avLst>
              <a:gd name="adj" fmla="val 2222"/>
            </a:avLst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Risinājuma ikona 2" descr="preencoded.png"/>
          <p:cNvPicPr/>
          <p:nvPr/>
        </p:nvPicPr>
        <p:blipFill>
          <a:blip r:embed="rId4"/>
          <a:stretch/>
        </p:blipFill>
        <p:spPr>
          <a:xfrm>
            <a:off x="5486400" y="160020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Risinājuma virsraksts 2"/>
          <p:cNvSpPr/>
          <p:nvPr/>
        </p:nvSpPr>
        <p:spPr>
          <a:xfrm>
            <a:off x="5486400" y="2286000"/>
            <a:ext cx="29253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Risinājums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Risinājuma teksts 2"/>
          <p:cNvSpPr/>
          <p:nvPr/>
        </p:nvSpPr>
        <p:spPr>
          <a:xfrm>
            <a:off x="5486400" y="2788920"/>
            <a:ext cx="29253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Slēgts sociālais tīkls vienai klasei vai skolai, kurā katrs lietotājs pats izvēlas, vai viņa saturu redz visi vai tikai draugi.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8"/>
          </p:nvPr>
        </p:nvSpPr>
        <p:spPr>
          <a:xfrm>
            <a:off x="822960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7DA8B9-D17E-4587-A590-FEB901114ABF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8880" cy="59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Darba mērķis un uzdevumi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Mērķa kartīte 2"/>
          <p:cNvSpPr/>
          <p:nvPr/>
        </p:nvSpPr>
        <p:spPr>
          <a:xfrm>
            <a:off x="457200" y="1051560"/>
            <a:ext cx="8228880" cy="86796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Mērķis aplis 2"/>
          <p:cNvSpPr/>
          <p:nvPr/>
        </p:nvSpPr>
        <p:spPr>
          <a:xfrm>
            <a:off x="685800" y="1188720"/>
            <a:ext cx="593640" cy="593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Mērķis ikona 2" descr="preencoded.png"/>
          <p:cNvPicPr/>
          <p:nvPr/>
        </p:nvPicPr>
        <p:blipFill>
          <a:blip r:embed="rId1"/>
          <a:stretch/>
        </p:blipFill>
        <p:spPr>
          <a:xfrm>
            <a:off x="834480" y="1337400"/>
            <a:ext cx="296640" cy="29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Mērķis 2"/>
          <p:cNvSpPr/>
          <p:nvPr/>
        </p:nvSpPr>
        <p:spPr>
          <a:xfrm>
            <a:off x="1508760" y="1188720"/>
            <a:ext cx="69487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Mērķis: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izstrādāt sociālā tīkla tīmekļa lietotni “Osmos” vienas klases vai skolas audzēkņu saziņai.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Uzdevums 1"/>
          <p:cNvSpPr/>
          <p:nvPr/>
        </p:nvSpPr>
        <p:spPr>
          <a:xfrm>
            <a:off x="457200" y="2240280"/>
            <a:ext cx="456480" cy="4564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Uzdevums 1 cipars 2"/>
          <p:cNvSpPr/>
          <p:nvPr/>
        </p:nvSpPr>
        <p:spPr>
          <a:xfrm>
            <a:off x="457200" y="22402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Uzdevums 1 teksts 2"/>
          <p:cNvSpPr/>
          <p:nvPr/>
        </p:nvSpPr>
        <p:spPr>
          <a:xfrm>
            <a:off x="1097280" y="224028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Izpētīt līdzīgus sociālos tīklus un noteikt prasības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Uzdevums 2"/>
          <p:cNvSpPr/>
          <p:nvPr/>
        </p:nvSpPr>
        <p:spPr>
          <a:xfrm>
            <a:off x="457200" y="3017520"/>
            <a:ext cx="456480" cy="4564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Uzdevums 2 cipars 2"/>
          <p:cNvSpPr/>
          <p:nvPr/>
        </p:nvSpPr>
        <p:spPr>
          <a:xfrm>
            <a:off x="457200" y="30175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Uzdevums 2 teksts 2"/>
          <p:cNvSpPr/>
          <p:nvPr/>
        </p:nvSpPr>
        <p:spPr>
          <a:xfrm>
            <a:off x="1097280" y="301752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Izvēlēties izstrādes rīkus un tehnoloģijas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Uzdevums 3"/>
          <p:cNvSpPr/>
          <p:nvPr/>
        </p:nvSpPr>
        <p:spPr>
          <a:xfrm>
            <a:off x="457200" y="3794760"/>
            <a:ext cx="456480" cy="4564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Uzdevums 3 cipars 2"/>
          <p:cNvSpPr/>
          <p:nvPr/>
        </p:nvSpPr>
        <p:spPr>
          <a:xfrm>
            <a:off x="457200" y="37947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3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Uzdevums 3 teksts 2"/>
          <p:cNvSpPr/>
          <p:nvPr/>
        </p:nvSpPr>
        <p:spPr>
          <a:xfrm>
            <a:off x="1097280" y="379476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Izstrādāt arhitektūru un datubāzes struktūru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Uzdevums 4"/>
          <p:cNvSpPr/>
          <p:nvPr/>
        </p:nvSpPr>
        <p:spPr>
          <a:xfrm>
            <a:off x="4663440" y="2240280"/>
            <a:ext cx="456480" cy="4564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Uzdevums 4 cipars 2"/>
          <p:cNvSpPr/>
          <p:nvPr/>
        </p:nvSpPr>
        <p:spPr>
          <a:xfrm>
            <a:off x="4663440" y="22402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4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Uzdevums 4 teksts 2"/>
          <p:cNvSpPr/>
          <p:nvPr/>
        </p:nvSpPr>
        <p:spPr>
          <a:xfrm>
            <a:off x="5303520" y="224028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Realizēt funkcijas PHP valodā un lietotāja saskarni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Uzdevums 5"/>
          <p:cNvSpPr/>
          <p:nvPr/>
        </p:nvSpPr>
        <p:spPr>
          <a:xfrm>
            <a:off x="4663440" y="3017520"/>
            <a:ext cx="456480" cy="4564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Uzdevums 5 cipars 2"/>
          <p:cNvSpPr/>
          <p:nvPr/>
        </p:nvSpPr>
        <p:spPr>
          <a:xfrm>
            <a:off x="4663440" y="30175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5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Uzdevums 5 teksts 2"/>
          <p:cNvSpPr/>
          <p:nvPr/>
        </p:nvSpPr>
        <p:spPr>
          <a:xfrm>
            <a:off x="5303520" y="301752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Pārbaudīt sistēmas darbību ar testiem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Uzdevums 6"/>
          <p:cNvSpPr/>
          <p:nvPr/>
        </p:nvSpPr>
        <p:spPr>
          <a:xfrm>
            <a:off x="4663440" y="3794760"/>
            <a:ext cx="456480" cy="4564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Uzdevums 6 cipars 2"/>
          <p:cNvSpPr/>
          <p:nvPr/>
        </p:nvSpPr>
        <p:spPr>
          <a:xfrm>
            <a:off x="4663440" y="37947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6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Uzdevums 6 teksts 2"/>
          <p:cNvSpPr/>
          <p:nvPr/>
        </p:nvSpPr>
        <p:spPr>
          <a:xfrm>
            <a:off x="5303520" y="379476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Sagatavot dokumentāciju un lietotāja ceļvedi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ldNum" idx="9"/>
          </p:nvPr>
        </p:nvSpPr>
        <p:spPr>
          <a:xfrm>
            <a:off x="822960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3EF98B-6475-489A-8453-EED445EE53AD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8880" cy="59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Dokumentācijas struktūra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Nodaļa 1"/>
          <p:cNvSpPr/>
          <p:nvPr/>
        </p:nvSpPr>
        <p:spPr>
          <a:xfrm>
            <a:off x="457200" y="1051560"/>
            <a:ext cx="2605320" cy="10051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Nodaļas numurs 1"/>
          <p:cNvSpPr/>
          <p:nvPr/>
        </p:nvSpPr>
        <p:spPr>
          <a:xfrm>
            <a:off x="640080" y="1325880"/>
            <a:ext cx="456480" cy="4564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Nodaļas numurs 1 cipars 2"/>
          <p:cNvSpPr/>
          <p:nvPr/>
        </p:nvSpPr>
        <p:spPr>
          <a:xfrm>
            <a:off x="640080" y="13258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Nodaļas nosaukums 1"/>
          <p:cNvSpPr/>
          <p:nvPr/>
        </p:nvSpPr>
        <p:spPr>
          <a:xfrm>
            <a:off x="1234440" y="125280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Uzdevuma nostādne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Nodaļas saturs 1"/>
          <p:cNvSpPr/>
          <p:nvPr/>
        </p:nvSpPr>
        <p:spPr>
          <a:xfrm>
            <a:off x="1234440" y="158184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lomas un iespējas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Nodaļa 2"/>
          <p:cNvSpPr/>
          <p:nvPr/>
        </p:nvSpPr>
        <p:spPr>
          <a:xfrm>
            <a:off x="3269160" y="1051560"/>
            <a:ext cx="2605320" cy="10051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Nodaļas numurs 2"/>
          <p:cNvSpPr/>
          <p:nvPr/>
        </p:nvSpPr>
        <p:spPr>
          <a:xfrm>
            <a:off x="3452040" y="1325880"/>
            <a:ext cx="456480" cy="4564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Nodaļas numurs 2 cipars 2"/>
          <p:cNvSpPr/>
          <p:nvPr/>
        </p:nvSpPr>
        <p:spPr>
          <a:xfrm>
            <a:off x="3452040" y="13258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Nodaļas nosaukums 2"/>
          <p:cNvSpPr/>
          <p:nvPr/>
        </p:nvSpPr>
        <p:spPr>
          <a:xfrm>
            <a:off x="4046400" y="125280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Prasību specifikācija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Nodaļas saturs 2"/>
          <p:cNvSpPr/>
          <p:nvPr/>
        </p:nvSpPr>
        <p:spPr>
          <a:xfrm>
            <a:off x="4046400" y="158184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15 funkcionālās prasības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Nodaļa 3"/>
          <p:cNvSpPr/>
          <p:nvPr/>
        </p:nvSpPr>
        <p:spPr>
          <a:xfrm>
            <a:off x="6080760" y="1051560"/>
            <a:ext cx="2605320" cy="10051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Nodaļas numurs 3"/>
          <p:cNvSpPr/>
          <p:nvPr/>
        </p:nvSpPr>
        <p:spPr>
          <a:xfrm>
            <a:off x="6263640" y="1325880"/>
            <a:ext cx="456480" cy="4564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Nodaļas numurs 3 cipars 2"/>
          <p:cNvSpPr/>
          <p:nvPr/>
        </p:nvSpPr>
        <p:spPr>
          <a:xfrm>
            <a:off x="6263640" y="13258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3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Nodaļas nosaukums 3"/>
          <p:cNvSpPr/>
          <p:nvPr/>
        </p:nvSpPr>
        <p:spPr>
          <a:xfrm>
            <a:off x="6858000" y="125280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Līdzekļu izvēle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Nodaļas saturs 3"/>
          <p:cNvSpPr/>
          <p:nvPr/>
        </p:nvSpPr>
        <p:spPr>
          <a:xfrm>
            <a:off x="6858000" y="158184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XAMPP, PHP, MariaDB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Nodaļa 4"/>
          <p:cNvSpPr/>
          <p:nvPr/>
        </p:nvSpPr>
        <p:spPr>
          <a:xfrm>
            <a:off x="457200" y="2240280"/>
            <a:ext cx="2605320" cy="10051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Nodaļas numurs 4"/>
          <p:cNvSpPr/>
          <p:nvPr/>
        </p:nvSpPr>
        <p:spPr>
          <a:xfrm>
            <a:off x="640080" y="2514600"/>
            <a:ext cx="456480" cy="4564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Nodaļas numurs 4 cipars 2"/>
          <p:cNvSpPr/>
          <p:nvPr/>
        </p:nvSpPr>
        <p:spPr>
          <a:xfrm>
            <a:off x="640080" y="251460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4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Nodaļas nosaukums 4"/>
          <p:cNvSpPr/>
          <p:nvPr/>
        </p:nvSpPr>
        <p:spPr>
          <a:xfrm>
            <a:off x="1234440" y="244152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Modelēšana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Nodaļas saturs 4"/>
          <p:cNvSpPr/>
          <p:nvPr/>
        </p:nvSpPr>
        <p:spPr>
          <a:xfrm>
            <a:off x="1234440" y="277056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arhitektūra, ER, datu plūsmas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Nodaļa 5"/>
          <p:cNvSpPr/>
          <p:nvPr/>
        </p:nvSpPr>
        <p:spPr>
          <a:xfrm>
            <a:off x="3269160" y="2240280"/>
            <a:ext cx="2605320" cy="10051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Nodaļas numurs 5"/>
          <p:cNvSpPr/>
          <p:nvPr/>
        </p:nvSpPr>
        <p:spPr>
          <a:xfrm>
            <a:off x="3452040" y="2514600"/>
            <a:ext cx="456480" cy="4564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Nodaļas numurs 5 cipars 2"/>
          <p:cNvSpPr/>
          <p:nvPr/>
        </p:nvSpPr>
        <p:spPr>
          <a:xfrm>
            <a:off x="3452040" y="251460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5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Nodaļas nosaukums 5"/>
          <p:cNvSpPr/>
          <p:nvPr/>
        </p:nvSpPr>
        <p:spPr>
          <a:xfrm>
            <a:off x="4046400" y="244152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Datu struktūras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Nodaļas saturs 5"/>
          <p:cNvSpPr/>
          <p:nvPr/>
        </p:nvSpPr>
        <p:spPr>
          <a:xfrm>
            <a:off x="4046400" y="277056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11 tabulas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Nodaļa 6"/>
          <p:cNvSpPr/>
          <p:nvPr/>
        </p:nvSpPr>
        <p:spPr>
          <a:xfrm>
            <a:off x="6080760" y="2240280"/>
            <a:ext cx="2605320" cy="10051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Nodaļas numurs 6"/>
          <p:cNvSpPr/>
          <p:nvPr/>
        </p:nvSpPr>
        <p:spPr>
          <a:xfrm>
            <a:off x="6263640" y="2514600"/>
            <a:ext cx="456480" cy="4564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Nodaļas numurs 6 cipars 2"/>
          <p:cNvSpPr/>
          <p:nvPr/>
        </p:nvSpPr>
        <p:spPr>
          <a:xfrm>
            <a:off x="6263640" y="251460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6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Nodaļas nosaukums 6"/>
          <p:cNvSpPr/>
          <p:nvPr/>
        </p:nvSpPr>
        <p:spPr>
          <a:xfrm>
            <a:off x="6858000" y="244152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Lietotāja ceļvedis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Nodaļas saturs 6"/>
          <p:cNvSpPr/>
          <p:nvPr/>
        </p:nvSpPr>
        <p:spPr>
          <a:xfrm>
            <a:off x="6858000" y="277056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instalācija, 17 ekrānattēli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Nodaļa 7"/>
          <p:cNvSpPr/>
          <p:nvPr/>
        </p:nvSpPr>
        <p:spPr>
          <a:xfrm>
            <a:off x="457200" y="3429000"/>
            <a:ext cx="2605320" cy="10051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Nodaļas numurs 7"/>
          <p:cNvSpPr/>
          <p:nvPr/>
        </p:nvSpPr>
        <p:spPr>
          <a:xfrm>
            <a:off x="640080" y="3703320"/>
            <a:ext cx="456480" cy="4564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Nodaļas numurs 7 cipars 2"/>
          <p:cNvSpPr/>
          <p:nvPr/>
        </p:nvSpPr>
        <p:spPr>
          <a:xfrm>
            <a:off x="640080" y="370332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7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Nodaļas nosaukums 7"/>
          <p:cNvSpPr/>
          <p:nvPr/>
        </p:nvSpPr>
        <p:spPr>
          <a:xfrm>
            <a:off x="1234440" y="363024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Testēšana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Nodaļas saturs 7"/>
          <p:cNvSpPr/>
          <p:nvPr/>
        </p:nvSpPr>
        <p:spPr>
          <a:xfrm>
            <a:off x="1234440" y="395928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52 testa gadījumi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Nodaļa 8"/>
          <p:cNvSpPr/>
          <p:nvPr/>
        </p:nvSpPr>
        <p:spPr>
          <a:xfrm>
            <a:off x="3269160" y="3429000"/>
            <a:ext cx="2605320" cy="10051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Nodaļas ikona 3" descr="preencoded.png"/>
          <p:cNvPicPr/>
          <p:nvPr/>
        </p:nvPicPr>
        <p:blipFill>
          <a:blip r:embed="rId1"/>
          <a:stretch/>
        </p:blipFill>
        <p:spPr>
          <a:xfrm>
            <a:off x="3515760" y="376740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Nodaļas nosaukums 8"/>
          <p:cNvSpPr/>
          <p:nvPr/>
        </p:nvSpPr>
        <p:spPr>
          <a:xfrm>
            <a:off x="4046400" y="363024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Secinājumi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Nodaļas saturs 8"/>
          <p:cNvSpPr/>
          <p:nvPr/>
        </p:nvSpPr>
        <p:spPr>
          <a:xfrm>
            <a:off x="4046400" y="395928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rezultāti un attīstība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Nodaļa 9"/>
          <p:cNvSpPr/>
          <p:nvPr/>
        </p:nvSpPr>
        <p:spPr>
          <a:xfrm>
            <a:off x="6080760" y="3429000"/>
            <a:ext cx="2605320" cy="10051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Nodaļas ikona 4" descr="preencoded.png"/>
          <p:cNvPicPr/>
          <p:nvPr/>
        </p:nvPicPr>
        <p:blipFill>
          <a:blip r:embed="rId2"/>
          <a:stretch/>
        </p:blipFill>
        <p:spPr>
          <a:xfrm>
            <a:off x="6327720" y="376740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Nodaļas nosaukums 9"/>
          <p:cNvSpPr/>
          <p:nvPr/>
        </p:nvSpPr>
        <p:spPr>
          <a:xfrm>
            <a:off x="6858000" y="363024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Pielikums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Nodaļas saturs 9"/>
          <p:cNvSpPr/>
          <p:nvPr/>
        </p:nvSpPr>
        <p:spPr>
          <a:xfrm>
            <a:off x="6858000" y="395928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1414 rindas pirmkoda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ldNum" idx="10"/>
          </p:nvPr>
        </p:nvSpPr>
        <p:spPr>
          <a:xfrm>
            <a:off x="822960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1E6449-AAD3-41F2-B833-EDDA5AC18FBD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8880" cy="59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Sistēmas iespējas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Loma Apmeklētājs 2"/>
          <p:cNvSpPr/>
          <p:nvPr/>
        </p:nvSpPr>
        <p:spPr>
          <a:xfrm>
            <a:off x="457200" y="1051560"/>
            <a:ext cx="2559600" cy="35197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Loma Apmeklētājs aplis 2"/>
          <p:cNvSpPr/>
          <p:nvPr/>
        </p:nvSpPr>
        <p:spPr>
          <a:xfrm>
            <a:off x="685800" y="1234440"/>
            <a:ext cx="547920" cy="547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Loma Apmeklētājs ikona 2" descr="preencoded.png"/>
          <p:cNvPicPr/>
          <p:nvPr/>
        </p:nvPicPr>
        <p:blipFill>
          <a:blip r:embed="rId1"/>
          <a:stretch/>
        </p:blipFill>
        <p:spPr>
          <a:xfrm>
            <a:off x="822960" y="137160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Lomas nosaukums 1"/>
          <p:cNvSpPr/>
          <p:nvPr/>
        </p:nvSpPr>
        <p:spPr>
          <a:xfrm>
            <a:off x="1371600" y="132588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Apmeklētājs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Lomas iespējas 1"/>
          <p:cNvSpPr/>
          <p:nvPr/>
        </p:nvSpPr>
        <p:spPr>
          <a:xfrm>
            <a:off x="685800" y="2011680"/>
            <a:ext cx="219384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3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Reģistrēties ar lietotājvārdu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3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Pieslēgties sistēmai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Loma Lietotājs 2"/>
          <p:cNvSpPr/>
          <p:nvPr/>
        </p:nvSpPr>
        <p:spPr>
          <a:xfrm>
            <a:off x="3291840" y="1051560"/>
            <a:ext cx="2559600" cy="35197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Loma Lietotājs aplis 2"/>
          <p:cNvSpPr/>
          <p:nvPr/>
        </p:nvSpPr>
        <p:spPr>
          <a:xfrm>
            <a:off x="3520440" y="1234440"/>
            <a:ext cx="547920" cy="547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Loma Lietotājs ikona 2" descr="preencoded.png"/>
          <p:cNvPicPr/>
          <p:nvPr/>
        </p:nvPicPr>
        <p:blipFill>
          <a:blip r:embed="rId2"/>
          <a:stretch/>
        </p:blipFill>
        <p:spPr>
          <a:xfrm>
            <a:off x="3657600" y="137160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Lomas nosaukums 2"/>
          <p:cNvSpPr/>
          <p:nvPr/>
        </p:nvSpPr>
        <p:spPr>
          <a:xfrm>
            <a:off x="4206240" y="132588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Lietotājs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Lomas iespējas 2"/>
          <p:cNvSpPr/>
          <p:nvPr/>
        </p:nvSpPr>
        <p:spPr>
          <a:xfrm>
            <a:off x="3520440" y="2011680"/>
            <a:ext cx="219384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3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Profils un privātums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3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Draudzības pieprasījumi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3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Ieraksti, komentāri, “patīk”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3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Tēmturi un meklēšana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3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Privātās ziņas, paziņojumi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3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Grupas ar lomām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Loma Administrators 2"/>
          <p:cNvSpPr/>
          <p:nvPr/>
        </p:nvSpPr>
        <p:spPr>
          <a:xfrm>
            <a:off x="6126480" y="1051560"/>
            <a:ext cx="2559600" cy="35197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Loma Administrators aplis 2"/>
          <p:cNvSpPr/>
          <p:nvPr/>
        </p:nvSpPr>
        <p:spPr>
          <a:xfrm>
            <a:off x="6355080" y="1234440"/>
            <a:ext cx="547920" cy="547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Loma Administrators ikona 2" descr="preencoded.png"/>
          <p:cNvPicPr/>
          <p:nvPr/>
        </p:nvPicPr>
        <p:blipFill>
          <a:blip r:embed="rId3"/>
          <a:stretch/>
        </p:blipFill>
        <p:spPr>
          <a:xfrm>
            <a:off x="6492240" y="1371600"/>
            <a:ext cx="273600" cy="27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Lomas nosaukums 3"/>
          <p:cNvSpPr/>
          <p:nvPr/>
        </p:nvSpPr>
        <p:spPr>
          <a:xfrm>
            <a:off x="7040880" y="132588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Administrators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Lomas iespējas 3"/>
          <p:cNvSpPr/>
          <p:nvPr/>
        </p:nvSpPr>
        <p:spPr>
          <a:xfrm>
            <a:off x="6355080" y="2011680"/>
            <a:ext cx="219384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3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Sistēmas statistika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3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Kontu bloķēšana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3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Administratora tiesības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3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Paroles atiestatīšana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3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Satura dzēšana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ldNum" idx="11"/>
          </p:nvPr>
        </p:nvSpPr>
        <p:spPr>
          <a:xfrm>
            <a:off x="822960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AE1CE6-1059-4520-B119-F83186B7C7ED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8880" cy="59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Arhitektū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ra un 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datubāze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Arhitektūras diagramma rāmis 2"/>
          <p:cNvSpPr/>
          <p:nvPr/>
        </p:nvSpPr>
        <p:spPr>
          <a:xfrm>
            <a:off x="1043640" y="1005840"/>
            <a:ext cx="3186360" cy="3153960"/>
          </a:xfrm>
          <a:prstGeom prst="rect">
            <a:avLst/>
          </a:prstGeom>
          <a:solidFill>
            <a:schemeClr val="bg1"/>
          </a:solidFill>
          <a:ln w="9525">
            <a:solidFill>
              <a:srgbClr val="d5d9e2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Arhitektūras diagramma 2" descr="/home/claude/doc/img/dia_arch.png"/>
          <p:cNvPicPr/>
          <p:nvPr/>
        </p:nvPicPr>
        <p:blipFill>
          <a:blip r:embed="rId1"/>
          <a:stretch/>
        </p:blipFill>
        <p:spPr>
          <a:xfrm>
            <a:off x="1089360" y="1051560"/>
            <a:ext cx="3094920" cy="306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ER diagramma rāmis 2"/>
          <p:cNvSpPr/>
          <p:nvPr/>
        </p:nvSpPr>
        <p:spPr>
          <a:xfrm>
            <a:off x="4870800" y="1005840"/>
            <a:ext cx="3229200" cy="3153960"/>
          </a:xfrm>
          <a:prstGeom prst="rect">
            <a:avLst/>
          </a:prstGeom>
          <a:solidFill>
            <a:schemeClr val="bg1"/>
          </a:solidFill>
          <a:ln w="9525">
            <a:solidFill>
              <a:srgbClr val="d5d9e2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ER diagramma 2" descr="/home/claude/doc/img/dia_er.png"/>
          <p:cNvPicPr/>
          <p:nvPr/>
        </p:nvPicPr>
        <p:blipFill>
          <a:blip r:embed="rId2"/>
          <a:stretch/>
        </p:blipFill>
        <p:spPr>
          <a:xfrm>
            <a:off x="4916520" y="1051560"/>
            <a:ext cx="3137760" cy="306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Arhitektūras paraksts 2"/>
          <p:cNvSpPr/>
          <p:nvPr/>
        </p:nvSpPr>
        <p:spPr>
          <a:xfrm>
            <a:off x="1089360" y="4224600"/>
            <a:ext cx="3094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XAMPP: 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Apache, PHP 8 un MariaDB. Visas lapas atver viens ieejas punkts index.php.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Datubāzes paraksts 2"/>
          <p:cNvSpPr/>
          <p:nvPr/>
        </p:nvSpPr>
        <p:spPr>
          <a:xfrm>
            <a:off x="4916520" y="4224600"/>
            <a:ext cx="3137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11 tabulas: 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lietotāji un grupas vienā tabulā users, komentārs ir ieraksts ar lauku parent.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ldNum" idx="12"/>
          </p:nvPr>
        </p:nvSpPr>
        <p:spPr>
          <a:xfrm>
            <a:off x="822960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523B2B-05FA-49AD-8134-C122E4D90909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8880" cy="59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Privātums un drošība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rivātuma virsraksts 2"/>
          <p:cNvSpPr/>
          <p:nvPr/>
        </p:nvSpPr>
        <p:spPr>
          <a:xfrm>
            <a:off x="457200" y="1005840"/>
            <a:ext cx="4022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Kurš redz ierakstu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Noteikums 1"/>
          <p:cNvSpPr/>
          <p:nvPr/>
        </p:nvSpPr>
        <p:spPr>
          <a:xfrm>
            <a:off x="457200" y="1508760"/>
            <a:ext cx="383400" cy="383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Noteikums 1 cipars 2"/>
          <p:cNvSpPr/>
          <p:nvPr/>
        </p:nvSpPr>
        <p:spPr>
          <a:xfrm>
            <a:off x="457200" y="15087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Noteikums 1 teksts 2"/>
          <p:cNvSpPr/>
          <p:nvPr/>
        </p:nvSpPr>
        <p:spPr>
          <a:xfrm>
            <a:off x="960120" y="1508760"/>
            <a:ext cx="3519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Administrators redz visu saturu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Noteikums 2"/>
          <p:cNvSpPr/>
          <p:nvPr/>
        </p:nvSpPr>
        <p:spPr>
          <a:xfrm>
            <a:off x="457200" y="2075760"/>
            <a:ext cx="383400" cy="383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Noteikums 2 cipars 2"/>
          <p:cNvSpPr/>
          <p:nvPr/>
        </p:nvSpPr>
        <p:spPr>
          <a:xfrm>
            <a:off x="457200" y="20757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Noteikums 2 teksts 2"/>
          <p:cNvSpPr/>
          <p:nvPr/>
        </p:nvSpPr>
        <p:spPr>
          <a:xfrm>
            <a:off x="960120" y="2075760"/>
            <a:ext cx="3519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Privātas grupas ierakstus redz tikai dalībnieki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Noteikums 3"/>
          <p:cNvSpPr/>
          <p:nvPr/>
        </p:nvSpPr>
        <p:spPr>
          <a:xfrm>
            <a:off x="457200" y="2642760"/>
            <a:ext cx="383400" cy="383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Noteikums 3 cipars 2"/>
          <p:cNvSpPr/>
          <p:nvPr/>
        </p:nvSpPr>
        <p:spPr>
          <a:xfrm>
            <a:off x="457200" y="26427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3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Noteikums 3 teksts 2"/>
          <p:cNvSpPr/>
          <p:nvPr/>
        </p:nvSpPr>
        <p:spPr>
          <a:xfrm>
            <a:off x="960120" y="2642760"/>
            <a:ext cx="3519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Komentāram ir tāda pati redzamība kā ierakstam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Noteikums 4"/>
          <p:cNvSpPr/>
          <p:nvPr/>
        </p:nvSpPr>
        <p:spPr>
          <a:xfrm>
            <a:off x="457200" y="3209400"/>
            <a:ext cx="383400" cy="383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Noteikums 4 cipars 2"/>
          <p:cNvSpPr/>
          <p:nvPr/>
        </p:nvSpPr>
        <p:spPr>
          <a:xfrm>
            <a:off x="457200" y="32094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4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Noteikums 4 teksts 2"/>
          <p:cNvSpPr/>
          <p:nvPr/>
        </p:nvSpPr>
        <p:spPr>
          <a:xfrm>
            <a:off x="960120" y="3209400"/>
            <a:ext cx="3519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“Friends only” ierakstus redz autors un draugi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Metodes kartīte 2"/>
          <p:cNvSpPr/>
          <p:nvPr/>
        </p:nvSpPr>
        <p:spPr>
          <a:xfrm>
            <a:off x="457200" y="3886200"/>
            <a:ext cx="4022640" cy="63936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Metodes apraksts 2"/>
          <p:cNvSpPr/>
          <p:nvPr/>
        </p:nvSpPr>
        <p:spPr>
          <a:xfrm>
            <a:off x="594360" y="3886200"/>
            <a:ext cx="3748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Viena metode </a:t>
            </a:r>
            <a:r>
              <a:rPr b="1" lang="en-US" sz="1200" strike="noStrike" u="non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can_view_post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  <a:ea typeface="Courier New"/>
              </a:rPr>
              <a:t> visām lapām, arī tēmturu meklēšanai.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Drošības virsraksts 2"/>
          <p:cNvSpPr/>
          <p:nvPr/>
        </p:nvSpPr>
        <p:spPr>
          <a:xfrm>
            <a:off x="4800600" y="1005840"/>
            <a:ext cx="3885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Drošība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Drošība 1 aplis 2"/>
          <p:cNvSpPr/>
          <p:nvPr/>
        </p:nvSpPr>
        <p:spPr>
          <a:xfrm>
            <a:off x="4800600" y="1508760"/>
            <a:ext cx="383400" cy="38340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Drošība 1 ikona 2" descr="preencoded.png"/>
          <p:cNvPicPr/>
          <p:nvPr/>
        </p:nvPicPr>
        <p:blipFill>
          <a:blip r:embed="rId1"/>
          <a:stretch/>
        </p:blipFill>
        <p:spPr>
          <a:xfrm>
            <a:off x="4896720" y="1604880"/>
            <a:ext cx="19116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Drošība 1 teksts 2"/>
          <p:cNvSpPr/>
          <p:nvPr/>
        </p:nvSpPr>
        <p:spPr>
          <a:xfrm>
            <a:off x="5303520" y="1508760"/>
            <a:ext cx="3382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Paroles: </a:t>
            </a: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jaucējvērtība ar password_hash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Drošība 2 aplis 2"/>
          <p:cNvSpPr/>
          <p:nvPr/>
        </p:nvSpPr>
        <p:spPr>
          <a:xfrm>
            <a:off x="4800600" y="2020680"/>
            <a:ext cx="383400" cy="38340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Drošība 2 ikona 2" descr="preencoded.png"/>
          <p:cNvPicPr/>
          <p:nvPr/>
        </p:nvPicPr>
        <p:blipFill>
          <a:blip r:embed="rId2"/>
          <a:stretch/>
        </p:blipFill>
        <p:spPr>
          <a:xfrm>
            <a:off x="4896720" y="2116800"/>
            <a:ext cx="19116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Drošība 2 teksts 2"/>
          <p:cNvSpPr/>
          <p:nvPr/>
        </p:nvSpPr>
        <p:spPr>
          <a:xfrm>
            <a:off x="5303520" y="2020680"/>
            <a:ext cx="3382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SQL injekcijas: </a:t>
            </a: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vērtības aizsargātas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Drošība 3 aplis 2"/>
          <p:cNvSpPr/>
          <p:nvPr/>
        </p:nvSpPr>
        <p:spPr>
          <a:xfrm>
            <a:off x="4800600" y="2532960"/>
            <a:ext cx="383400" cy="38340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Drošība 3 ikona 2" descr="preencoded.png"/>
          <p:cNvPicPr/>
          <p:nvPr/>
        </p:nvPicPr>
        <p:blipFill>
          <a:blip r:embed="rId3"/>
          <a:stretch/>
        </p:blipFill>
        <p:spPr>
          <a:xfrm>
            <a:off x="4896720" y="2629080"/>
            <a:ext cx="19116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Drošība 3 teksts 2"/>
          <p:cNvSpPr/>
          <p:nvPr/>
        </p:nvSpPr>
        <p:spPr>
          <a:xfrm>
            <a:off x="5303520" y="2532960"/>
            <a:ext cx="3382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XSS: </a:t>
            </a: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teksts caur htmlspecialchars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Drošība 4 aplis 2"/>
          <p:cNvSpPr/>
          <p:nvPr/>
        </p:nvSpPr>
        <p:spPr>
          <a:xfrm>
            <a:off x="4800600" y="3044880"/>
            <a:ext cx="383400" cy="38340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Drošība 4 ikona 2" descr="preencoded.png"/>
          <p:cNvPicPr/>
          <p:nvPr/>
        </p:nvPicPr>
        <p:blipFill>
          <a:blip r:embed="rId4"/>
          <a:stretch/>
        </p:blipFill>
        <p:spPr>
          <a:xfrm>
            <a:off x="4896720" y="3141000"/>
            <a:ext cx="19116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Drošība 4 teksts 2"/>
          <p:cNvSpPr/>
          <p:nvPr/>
        </p:nvSpPr>
        <p:spPr>
          <a:xfrm>
            <a:off x="5303520" y="3044880"/>
            <a:ext cx="3382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CSRF: </a:t>
            </a: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žetons katrā formā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Drošība 5 aplis 2"/>
          <p:cNvSpPr/>
          <p:nvPr/>
        </p:nvSpPr>
        <p:spPr>
          <a:xfrm>
            <a:off x="4800600" y="3557160"/>
            <a:ext cx="383400" cy="38340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Drošība 5 ikona 2" descr="preencoded.png"/>
          <p:cNvPicPr/>
          <p:nvPr/>
        </p:nvPicPr>
        <p:blipFill>
          <a:blip r:embed="rId5"/>
          <a:stretch/>
        </p:blipFill>
        <p:spPr>
          <a:xfrm>
            <a:off x="4896720" y="3652920"/>
            <a:ext cx="19116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Drošība 5 teksts 2"/>
          <p:cNvSpPr/>
          <p:nvPr/>
        </p:nvSpPr>
        <p:spPr>
          <a:xfrm>
            <a:off x="5303520" y="3557160"/>
            <a:ext cx="3382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Augšupielāde: </a:t>
            </a: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tips pēc faila satura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Drošība 6 aplis 2"/>
          <p:cNvSpPr/>
          <p:nvPr/>
        </p:nvSpPr>
        <p:spPr>
          <a:xfrm>
            <a:off x="4800600" y="4069080"/>
            <a:ext cx="383400" cy="38340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Drošība 6 ikona 2" descr="preencoded.png"/>
          <p:cNvPicPr/>
          <p:nvPr/>
        </p:nvPicPr>
        <p:blipFill>
          <a:blip r:embed="rId6"/>
          <a:stretch/>
        </p:blipFill>
        <p:spPr>
          <a:xfrm>
            <a:off x="4896720" y="4165200"/>
            <a:ext cx="19116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Drošība 6 teksts 2"/>
          <p:cNvSpPr/>
          <p:nvPr/>
        </p:nvSpPr>
        <p:spPr>
          <a:xfrm>
            <a:off x="5303520" y="4069080"/>
            <a:ext cx="3382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Tiesības: </a:t>
            </a: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pārbaude servera pusē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ldNum" idx="13"/>
          </p:nvPr>
        </p:nvSpPr>
        <p:spPr>
          <a:xfrm>
            <a:off x="822960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492EE9-6540-4803-A6E3-9944877F85D9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8880" cy="59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Regulārā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s 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izteiksme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Izteiksme Lietotājvārds 2"/>
          <p:cNvSpPr/>
          <p:nvPr/>
        </p:nvSpPr>
        <p:spPr>
          <a:xfrm>
            <a:off x="457200" y="1051560"/>
            <a:ext cx="8228880" cy="8222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Izteiksmes nosaukums 1"/>
          <p:cNvSpPr/>
          <p:nvPr/>
        </p:nvSpPr>
        <p:spPr>
          <a:xfrm>
            <a:off x="640080" y="1051560"/>
            <a:ext cx="1599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Lietotājvārds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Izteiksme 1"/>
          <p:cNvSpPr/>
          <p:nvPr/>
        </p:nvSpPr>
        <p:spPr>
          <a:xfrm>
            <a:off x="2286000" y="1051560"/>
            <a:ext cx="3931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  <a:ea typeface="Courier New"/>
              </a:rPr>
              <a:t>^[a-z][a-z0-9_]{2,19}$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iemēri 1"/>
          <p:cNvSpPr/>
          <p:nvPr/>
        </p:nvSpPr>
        <p:spPr>
          <a:xfrm>
            <a:off x="6355080" y="1161360"/>
            <a:ext cx="223956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e8b57"/>
                </a:solidFill>
                <a:effectLst/>
                <a:uFillTx/>
                <a:latin typeface="Calibri"/>
              </a:rPr>
              <a:t>der: anna_b, janis2008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03a2e"/>
                </a:solidFill>
                <a:effectLst/>
                <a:uFillTx/>
                <a:latin typeface="Calibri"/>
              </a:rPr>
              <a:t>neder: 1karlis, jā, ab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Izteiksme Lietotāja atzīme 2"/>
          <p:cNvSpPr/>
          <p:nvPr/>
        </p:nvSpPr>
        <p:spPr>
          <a:xfrm>
            <a:off x="457200" y="2011680"/>
            <a:ext cx="8228880" cy="8222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Izteiksmes nosaukums 2"/>
          <p:cNvSpPr/>
          <p:nvPr/>
        </p:nvSpPr>
        <p:spPr>
          <a:xfrm>
            <a:off x="640080" y="2011680"/>
            <a:ext cx="1599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Lietotāja atzīme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Izteiksme 2"/>
          <p:cNvSpPr/>
          <p:nvPr/>
        </p:nvSpPr>
        <p:spPr>
          <a:xfrm>
            <a:off x="2286000" y="2011680"/>
            <a:ext cx="3931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  <a:ea typeface="Courier New"/>
              </a:rPr>
              <a:t>(^|[^\w&amp;@])@([a-zA-Z0-9_]+)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iemēri 2"/>
          <p:cNvSpPr/>
          <p:nvPr/>
        </p:nvSpPr>
        <p:spPr>
          <a:xfrm>
            <a:off x="6355080" y="2121480"/>
            <a:ext cx="223956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e8b57"/>
                </a:solidFill>
                <a:effectLst/>
                <a:uFillTx/>
                <a:latin typeface="Calibri"/>
              </a:rPr>
              <a:t>@janis_k kļūst par saiti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03a2e"/>
                </a:solidFill>
                <a:effectLst/>
                <a:uFillTx/>
                <a:latin typeface="Calibri"/>
              </a:rPr>
              <a:t>janis@gmail.com nav atzīme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Izteiksme Tēmturis 2"/>
          <p:cNvSpPr/>
          <p:nvPr/>
        </p:nvSpPr>
        <p:spPr>
          <a:xfrm>
            <a:off x="457200" y="2971800"/>
            <a:ext cx="8228880" cy="8222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Izteiksmes nosaukums 3"/>
          <p:cNvSpPr/>
          <p:nvPr/>
        </p:nvSpPr>
        <p:spPr>
          <a:xfrm>
            <a:off x="640080" y="2971800"/>
            <a:ext cx="1599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Tēmturis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Izteiksme 3"/>
          <p:cNvSpPr/>
          <p:nvPr/>
        </p:nvSpPr>
        <p:spPr>
          <a:xfrm>
            <a:off x="2286000" y="2971800"/>
            <a:ext cx="39312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ourier New"/>
                <a:ea typeface="Courier New"/>
              </a:rPr>
              <a:t>(^|[^\w&amp;#])#([a-zA-Z_][a-zA-Z0-9_]*)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iemēri 3"/>
          <p:cNvSpPr/>
          <p:nvPr/>
        </p:nvSpPr>
        <p:spPr>
          <a:xfrm>
            <a:off x="6355080" y="3081600"/>
            <a:ext cx="223956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e8b57"/>
                </a:solidFill>
                <a:effectLst/>
                <a:uFillTx/>
                <a:latin typeface="Calibri"/>
              </a:rPr>
              <a:t>#php, #mysql kļūst par saiti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03a2e"/>
                </a:solidFill>
                <a:effectLst/>
                <a:uFillTx/>
                <a:latin typeface="Calibri"/>
              </a:rPr>
              <a:t>C# un it's nav tēmturi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Meklēšana aplis 2"/>
          <p:cNvSpPr/>
          <p:nvPr/>
        </p:nvSpPr>
        <p:spPr>
          <a:xfrm>
            <a:off x="457200" y="4005000"/>
            <a:ext cx="502200" cy="502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c10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Meklēšana ikona 2" descr="preencoded.png"/>
          <p:cNvPicPr/>
          <p:nvPr/>
        </p:nvPicPr>
        <p:blipFill>
          <a:blip r:embed="rId1"/>
          <a:stretch/>
        </p:blipFill>
        <p:spPr>
          <a:xfrm>
            <a:off x="582840" y="4130640"/>
            <a:ext cx="25092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REGEXP teksts 2"/>
          <p:cNvSpPr/>
          <p:nvPr/>
        </p:nvSpPr>
        <p:spPr>
          <a:xfrm>
            <a:off x="1143000" y="4005000"/>
            <a:ext cx="74973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Meklēšana datubāzē ar REGEXP: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tēmturis tiek meklēts kā atsevišķs vārds, tāpēc “#ph” neatrod “#php”.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sldNum" idx="14"/>
          </p:nvPr>
        </p:nvSpPr>
        <p:spPr>
          <a:xfrm>
            <a:off x="822960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33DFF1-5D84-4854-B7D5-B05C58E14670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8880" cy="59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Pr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og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ra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m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m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as 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de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m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on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st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rā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cij</a:t>
            </a: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a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Ekrānattēls 1 rāmis 2"/>
          <p:cNvSpPr/>
          <p:nvPr/>
        </p:nvSpPr>
        <p:spPr>
          <a:xfrm>
            <a:off x="457200" y="1371600"/>
            <a:ext cx="2651040" cy="2048040"/>
          </a:xfrm>
          <a:prstGeom prst="rect">
            <a:avLst/>
          </a:prstGeom>
          <a:solidFill>
            <a:schemeClr val="bg1"/>
          </a:solidFill>
          <a:ln w="9525">
            <a:solidFill>
              <a:srgbClr val="d5d9e2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Ekrānattēls 1" descr="/home/claude/doc/img/03_home.png"/>
          <p:cNvPicPr/>
          <p:nvPr/>
        </p:nvPicPr>
        <p:blipFill>
          <a:blip r:embed="rId1"/>
          <a:stretch/>
        </p:blipFill>
        <p:spPr>
          <a:xfrm>
            <a:off x="502920" y="1417320"/>
            <a:ext cx="2559600" cy="195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Paraksts 1"/>
          <p:cNvSpPr/>
          <p:nvPr/>
        </p:nvSpPr>
        <p:spPr>
          <a:xfrm>
            <a:off x="502920" y="374904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Ziņu lenta un populārākie tēmturi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Ekrānattēls 2 rāmis 2"/>
          <p:cNvSpPr/>
          <p:nvPr/>
        </p:nvSpPr>
        <p:spPr>
          <a:xfrm>
            <a:off x="3273480" y="1371600"/>
            <a:ext cx="2651040" cy="2036520"/>
          </a:xfrm>
          <a:prstGeom prst="rect">
            <a:avLst/>
          </a:prstGeom>
          <a:solidFill>
            <a:schemeClr val="bg1"/>
          </a:solidFill>
          <a:ln w="9525">
            <a:solidFill>
              <a:srgbClr val="d5d9e2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Ekrānattēls 2" descr="/home/claude/doc/img/07_private.png"/>
          <p:cNvPicPr/>
          <p:nvPr/>
        </p:nvPicPr>
        <p:blipFill>
          <a:blip r:embed="rId2"/>
          <a:stretch/>
        </p:blipFill>
        <p:spPr>
          <a:xfrm>
            <a:off x="3319200" y="1417320"/>
            <a:ext cx="2559600" cy="194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Paraksts 2"/>
          <p:cNvSpPr/>
          <p:nvPr/>
        </p:nvSpPr>
        <p:spPr>
          <a:xfrm>
            <a:off x="3319200" y="374904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Profils, kas redzams tikai draugiem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Ekrānattēls 3 rāmis 2"/>
          <p:cNvSpPr/>
          <p:nvPr/>
        </p:nvSpPr>
        <p:spPr>
          <a:xfrm>
            <a:off x="6089760" y="1371600"/>
            <a:ext cx="2651040" cy="2156760"/>
          </a:xfrm>
          <a:prstGeom prst="rect">
            <a:avLst/>
          </a:prstGeom>
          <a:solidFill>
            <a:schemeClr val="bg1"/>
          </a:solidFill>
          <a:ln w="9525">
            <a:solidFill>
              <a:srgbClr val="d5d9e2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Ekrānattēls 3" descr="/home/claude/doc/img/16_admin.png"/>
          <p:cNvPicPr/>
          <p:nvPr/>
        </p:nvPicPr>
        <p:blipFill>
          <a:blip r:embed="rId3"/>
          <a:stretch/>
        </p:blipFill>
        <p:spPr>
          <a:xfrm>
            <a:off x="6135480" y="1417320"/>
            <a:ext cx="2559600" cy="206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Paraksts 3"/>
          <p:cNvSpPr/>
          <p:nvPr/>
        </p:nvSpPr>
        <p:spPr>
          <a:xfrm>
            <a:off x="6135480" y="374904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Administratora panelis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sldNum" idx="15"/>
          </p:nvPr>
        </p:nvSpPr>
        <p:spPr>
          <a:xfrm>
            <a:off x="822960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BB5A82-47EB-41EF-8619-C98C1D6266BC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8880" cy="59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Testēšana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ādītājs 1"/>
          <p:cNvSpPr/>
          <p:nvPr/>
        </p:nvSpPr>
        <p:spPr>
          <a:xfrm>
            <a:off x="457200" y="1051560"/>
            <a:ext cx="3016800" cy="10051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ādītāja vērtība 1"/>
          <p:cNvSpPr/>
          <p:nvPr/>
        </p:nvSpPr>
        <p:spPr>
          <a:xfrm>
            <a:off x="640080" y="109728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52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ādītāja nosaukums 1"/>
          <p:cNvSpPr/>
          <p:nvPr/>
        </p:nvSpPr>
        <p:spPr>
          <a:xfrm>
            <a:off x="640080" y="164592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testa gadījumi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ādītājs 2"/>
          <p:cNvSpPr/>
          <p:nvPr/>
        </p:nvSpPr>
        <p:spPr>
          <a:xfrm>
            <a:off x="457200" y="2240280"/>
            <a:ext cx="3016800" cy="10051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ādītāja vērtība 2"/>
          <p:cNvSpPr/>
          <p:nvPr/>
        </p:nvSpPr>
        <p:spPr>
          <a:xfrm>
            <a:off x="640080" y="228600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52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ādītāja nosaukums 2"/>
          <p:cNvSpPr/>
          <p:nvPr/>
        </p:nvSpPr>
        <p:spPr>
          <a:xfrm>
            <a:off x="640080" y="283464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izpildīti pareizi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ādītājs 3"/>
          <p:cNvSpPr/>
          <p:nvPr/>
        </p:nvSpPr>
        <p:spPr>
          <a:xfrm>
            <a:off x="457200" y="3429000"/>
            <a:ext cx="3016800" cy="10051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ādītāja vērtība 3"/>
          <p:cNvSpPr/>
          <p:nvPr/>
        </p:nvSpPr>
        <p:spPr>
          <a:xfrm>
            <a:off x="640080" y="347472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40 ms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ādītāja nosaukums 3"/>
          <p:cNvSpPr/>
          <p:nvPr/>
        </p:nvSpPr>
        <p:spPr>
          <a:xfrm>
            <a:off x="640080" y="402336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ziņu lenta ar 1023 ierakstiem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6" name="Testa gadījumi pa jomām 2"/>
          <p:cNvGraphicFramePr/>
          <p:nvPr/>
        </p:nvGraphicFramePr>
        <p:xfrm>
          <a:off x="3749040" y="1005840"/>
          <a:ext cx="4937040" cy="361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7" name="PlaceHolder 2"/>
          <p:cNvSpPr>
            <a:spLocks noGrp="1"/>
          </p:cNvSpPr>
          <p:nvPr>
            <p:ph type="sldNum" idx="16"/>
          </p:nvPr>
        </p:nvSpPr>
        <p:spPr>
          <a:xfrm>
            <a:off x="822960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C17057-2095-47BD-91CE-DE14B2BDC943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8880" cy="59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trike="noStrike" u="non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Secinājumi un priekšlikumi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zultātu kartīte 2"/>
          <p:cNvSpPr/>
          <p:nvPr/>
        </p:nvSpPr>
        <p:spPr>
          <a:xfrm>
            <a:off x="457200" y="1051560"/>
            <a:ext cx="3976920" cy="35197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zultātu virsraksts 2"/>
          <p:cNvSpPr/>
          <p:nvPr/>
        </p:nvSpPr>
        <p:spPr>
          <a:xfrm>
            <a:off x="685800" y="12344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Rezultāts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1" name="Rezultāts 1 ikona 2" descr="preencoded.png"/>
          <p:cNvPicPr/>
          <p:nvPr/>
        </p:nvPicPr>
        <p:blipFill>
          <a:blip r:embed="rId1"/>
          <a:stretch/>
        </p:blipFill>
        <p:spPr>
          <a:xfrm>
            <a:off x="685800" y="1828800"/>
            <a:ext cx="291960" cy="29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Rezultāts 1"/>
          <p:cNvSpPr/>
          <p:nvPr/>
        </p:nvSpPr>
        <p:spPr>
          <a:xfrm>
            <a:off x="1143000" y="1783080"/>
            <a:ext cx="3108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Visas uzdevuma funkcijas realizētas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Rezultāts 2 ikona 2" descr="preencoded.png"/>
          <p:cNvPicPr/>
          <p:nvPr/>
        </p:nvPicPr>
        <p:blipFill>
          <a:blip r:embed="rId2"/>
          <a:stretch/>
        </p:blipFill>
        <p:spPr>
          <a:xfrm>
            <a:off x="685800" y="2487240"/>
            <a:ext cx="291960" cy="29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Rezultāts 2"/>
          <p:cNvSpPr/>
          <p:nvPr/>
        </p:nvSpPr>
        <p:spPr>
          <a:xfrm>
            <a:off x="1143000" y="2441520"/>
            <a:ext cx="3108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Papildus grupas, ziņas, paziņojumi un administrēšana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5" name="Rezultāts 3 ikona 2" descr="preencoded.png"/>
          <p:cNvPicPr/>
          <p:nvPr/>
        </p:nvPicPr>
        <p:blipFill>
          <a:blip r:embed="rId3"/>
          <a:stretch/>
        </p:blipFill>
        <p:spPr>
          <a:xfrm>
            <a:off x="685800" y="3145680"/>
            <a:ext cx="291960" cy="29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Rezultāts 3"/>
          <p:cNvSpPr/>
          <p:nvPr/>
        </p:nvSpPr>
        <p:spPr>
          <a:xfrm>
            <a:off x="1143000" y="3099960"/>
            <a:ext cx="3108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52 testi izpildīti pareizi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" name="Rezultāts 4 ikona 2" descr="preencoded.png"/>
          <p:cNvPicPr/>
          <p:nvPr/>
        </p:nvPicPr>
        <p:blipFill>
          <a:blip r:embed="rId4"/>
          <a:stretch/>
        </p:blipFill>
        <p:spPr>
          <a:xfrm>
            <a:off x="685800" y="3803760"/>
            <a:ext cx="291960" cy="29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Rezultāts 4"/>
          <p:cNvSpPr/>
          <p:nvPr/>
        </p:nvSpPr>
        <p:spPr>
          <a:xfrm>
            <a:off x="1143000" y="3758040"/>
            <a:ext cx="3108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Aizsardzība pret SQL injekcijām, XSS un CSRF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Attīstības virsraksts 2"/>
          <p:cNvSpPr/>
          <p:nvPr/>
        </p:nvSpPr>
        <p:spPr>
          <a:xfrm>
            <a:off x="4800600" y="123444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Turpmākā attīstība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Attīstība 1 aplis 2"/>
          <p:cNvSpPr/>
          <p:nvPr/>
        </p:nvSpPr>
        <p:spPr>
          <a:xfrm>
            <a:off x="4800600" y="1783080"/>
            <a:ext cx="383400" cy="38340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Attīstība 1 ikona 2" descr="preencoded.png"/>
          <p:cNvPicPr/>
          <p:nvPr/>
        </p:nvPicPr>
        <p:blipFill>
          <a:blip r:embed="rId5"/>
          <a:stretch/>
        </p:blipFill>
        <p:spPr>
          <a:xfrm>
            <a:off x="4896720" y="1879200"/>
            <a:ext cx="19116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Attīstība 1 teksts 2"/>
          <p:cNvSpPr/>
          <p:nvPr/>
        </p:nvSpPr>
        <p:spPr>
          <a:xfrm>
            <a:off x="5349240" y="1783080"/>
            <a:ext cx="3291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Sagatavotie vaicājumi (prepared statements)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Attīstība 2 aplis 2"/>
          <p:cNvSpPr/>
          <p:nvPr/>
        </p:nvSpPr>
        <p:spPr>
          <a:xfrm>
            <a:off x="4800600" y="2331720"/>
            <a:ext cx="383400" cy="38340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" name="Attīstība 2 ikona 2" descr="preencoded.png"/>
          <p:cNvPicPr/>
          <p:nvPr/>
        </p:nvPicPr>
        <p:blipFill>
          <a:blip r:embed="rId6"/>
          <a:stretch/>
        </p:blipFill>
        <p:spPr>
          <a:xfrm>
            <a:off x="4896720" y="2427840"/>
            <a:ext cx="19116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Attīstība 2 teksts 2"/>
          <p:cNvSpPr/>
          <p:nvPr/>
        </p:nvSpPr>
        <p:spPr>
          <a:xfrm>
            <a:off x="5349240" y="2331720"/>
            <a:ext cx="3291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Ārējās atslēgas datubāzē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Attīstība 3 aplis 2"/>
          <p:cNvSpPr/>
          <p:nvPr/>
        </p:nvSpPr>
        <p:spPr>
          <a:xfrm>
            <a:off x="4800600" y="2880360"/>
            <a:ext cx="383400" cy="38340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Attīstība 3 ikona 2" descr="preencoded.png"/>
          <p:cNvPicPr/>
          <p:nvPr/>
        </p:nvPicPr>
        <p:blipFill>
          <a:blip r:embed="rId7"/>
          <a:stretch/>
        </p:blipFill>
        <p:spPr>
          <a:xfrm>
            <a:off x="4896720" y="2976480"/>
            <a:ext cx="19116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Attīstība 3 teksts 2"/>
          <p:cNvSpPr/>
          <p:nvPr/>
        </p:nvSpPr>
        <p:spPr>
          <a:xfrm>
            <a:off x="5349240" y="2880360"/>
            <a:ext cx="3291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Saskarne viedtālruņiem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Attīstība 4 aplis 2"/>
          <p:cNvSpPr/>
          <p:nvPr/>
        </p:nvSpPr>
        <p:spPr>
          <a:xfrm>
            <a:off x="4800600" y="3429000"/>
            <a:ext cx="383400" cy="38340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Attīstība 4 ikona 2" descr="preencoded.png"/>
          <p:cNvPicPr/>
          <p:nvPr/>
        </p:nvPicPr>
        <p:blipFill>
          <a:blip r:embed="rId8"/>
          <a:stretch/>
        </p:blipFill>
        <p:spPr>
          <a:xfrm>
            <a:off x="4896720" y="3525120"/>
            <a:ext cx="19116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Attīstība 4 teksts 2"/>
          <p:cNvSpPr/>
          <p:nvPr/>
        </p:nvSpPr>
        <p:spPr>
          <a:xfrm>
            <a:off x="5349240" y="3429000"/>
            <a:ext cx="3291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Jaunu ziņu automātiska ielāde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Attīstība 5 aplis 2"/>
          <p:cNvSpPr/>
          <p:nvPr/>
        </p:nvSpPr>
        <p:spPr>
          <a:xfrm>
            <a:off x="4800600" y="3977640"/>
            <a:ext cx="383400" cy="38340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3" name="Attīstība 5 ikona 2" descr="preencoded.png"/>
          <p:cNvPicPr/>
          <p:nvPr/>
        </p:nvPicPr>
        <p:blipFill>
          <a:blip r:embed="rId9"/>
          <a:stretch/>
        </p:blipFill>
        <p:spPr>
          <a:xfrm>
            <a:off x="4896720" y="4073760"/>
            <a:ext cx="19116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Attīstība 5 teksts 2"/>
          <p:cNvSpPr/>
          <p:nvPr/>
        </p:nvSpPr>
        <p:spPr>
          <a:xfrm>
            <a:off x="5349240" y="3977640"/>
            <a:ext cx="3291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Latviešu valodas saskarne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sldNum" idx="17"/>
          </p:nvPr>
        </p:nvSpPr>
        <p:spPr>
          <a:xfrm>
            <a:off x="8229600" y="4754880"/>
            <a:ext cx="456480" cy="27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E1F5B9-9F54-4970-9186-3291626EE347}" type="slidenum">
              <a:rPr b="0" lang="en-US" sz="1000" strike="noStrike" u="none">
                <a:solidFill>
                  <a:schemeClr val="accent6"/>
                </a:solidFill>
                <a:effectLst/>
                <a:uFillTx/>
                <a:latin typeface="Calibri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57200" y="1463040"/>
            <a:ext cx="822888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Paldies par uzmanību!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457200" y="2468880"/>
            <a:ext cx="8228880" cy="54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accent1"/>
                </a:solidFill>
                <a:effectLst/>
                <a:uFillTx/>
                <a:latin typeface="Calibri"/>
              </a:rPr>
              <a:t>Jautājumi?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Autors 2"/>
          <p:cNvSpPr/>
          <p:nvPr/>
        </p:nvSpPr>
        <p:spPr>
          <a:xfrm>
            <a:off x="457200" y="4206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</a:rPr>
              <a:t>Gustavs Siliņš, 9. grupa · Sociālā tīkla tīmekļa lietotne Osmos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smos">
  <a:themeElements>
    <a:clrScheme name="Osmos">
      <a:dk1>
        <a:srgbClr val="1f2433"/>
      </a:dk1>
      <a:lt1>
        <a:srgbClr val="ffffff"/>
      </a:lt1>
      <a:dk2>
        <a:srgbClr val="2b3f6b"/>
      </a:dk2>
      <a:lt2>
        <a:srgbClr val="f2f4f8"/>
      </a:lt2>
      <a:accent1>
        <a:srgbClr val="ffc10f"/>
      </a:accent1>
      <a:accent2>
        <a:srgbClr val="405d9b"/>
      </a:accent2>
      <a:accent3>
        <a:srgbClr val="e67e22"/>
      </a:accent3>
      <a:accent4>
        <a:srgbClr val="2e8b57"/>
      </a:accent4>
      <a:accent5>
        <a:srgbClr val="8e44ad"/>
      </a:accent5>
      <a:accent6>
        <a:srgbClr val="6b7285"/>
      </a:accent6>
      <a:hlink>
        <a:srgbClr val="405d9b"/>
      </a:hlink>
      <a:folHlink>
        <a:srgbClr val="8e44ad"/>
      </a:folHlink>
    </a:clrScheme>
    <a:fontScheme name="Osmos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Application>LibreOffice/25.8.3.2$MacOSX_AARCH64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2026-10-15T23:41:35Z</dcterms:created>
  <dc:creator/>
  <dc:description/>
  <dc:language>en-US</dc:language>
  <cp:lastModifiedBy/>
  <dcterms:modified xsi:type="dcterms:W3CDTF">2026-10-16T01:47:54Z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